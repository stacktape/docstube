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Warm, inviting open. Lead with delight and 'free + yours' — verification keeps it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human and relatable: the maintainer with great code and sad docs is our hero.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the volume story with the human '#1 resource, yet 30 min/day lost.' The trust drop motivates why verified matters. (Octoverse, SO solid.)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Delight is the wedge, but verification keeps it credible — beautiful AND trustworthy. Say 'flagged, never silently wrong.'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GitHub Action is the viral artifact — auto-PRs keep docs fresh and put docstube in front of every contributor. The drift report makes a fun launch stunt.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OSS audience, 'free + yours + beautiful' is the emotional hook; verification is the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Bottom-up adoption is the story. OSS maintainers are the beachhead (acute pain, no budget, already on a paid AI plan → docstube is ~free). Flag docs-tools $8B as color.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 the community tier, don't minimize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trash-talking — our edge is open + owned + verified, plus genuine design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MIT license isn't the moat — speed, community, and brand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Intentionally minimal, community-friendly framing.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Warm, community close. Optional ask only when raising.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oundRect">
            <a:avLst/>
          </a:prstGeom>
          <a:solidFill>
            <a:srgbClr val="CDEDE6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537960" y="868680"/>
            <a:ext cx="228600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37960" y="868680"/>
            <a:ext cx="2286000" cy="457200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5" name="Text 3"/>
          <p:cNvSpPr/>
          <p:nvPr/>
        </p:nvSpPr>
        <p:spPr>
          <a:xfrm>
            <a:off x="6693408" y="868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1920240" cy="10972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6720840" y="1911096"/>
            <a:ext cx="1463040" cy="10972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6720840" y="2221992"/>
            <a:ext cx="1920240" cy="10972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532888"/>
            <a:ext cx="1463040" cy="10972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Shape 8"/>
          <p:cNvSpPr/>
          <p:nvPr/>
        </p:nvSpPr>
        <p:spPr>
          <a:xfrm>
            <a:off x="6720840" y="2843784"/>
            <a:ext cx="1920240" cy="10972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6720840" y="324612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0B1220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3246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docstube build</a:t>
            </a:r>
            <a:endParaRPr lang="en-US" sz="850" dirty="0"/>
          </a:p>
        </p:txBody>
      </p:sp>
      <p:pic>
        <p:nvPicPr>
          <p:cNvPr id="13" name="Image 0" descr="/sessions/trusting-gifted-rubin/mnt/outputs/build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738378" cy="73837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68730" y="484632"/>
            <a:ext cx="310896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90" b="1" spc="-50" kern="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2890" b="1" spc="-50" kern="0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2890" dirty="0"/>
          </a:p>
        </p:txBody>
      </p:sp>
      <p:sp>
        <p:nvSpPr>
          <p:cNvPr id="15" name="Text 12"/>
          <p:cNvSpPr/>
          <p:nvPr/>
        </p:nvSpPr>
        <p:spPr>
          <a:xfrm>
            <a:off x="457200" y="16002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 you'd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457200" y="23774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actually </a:t>
            </a:r>
            <a:pPr algn="l" indent="0" marL="0">
              <a:buNone/>
            </a:pPr>
            <a:r>
              <a:rPr lang="en-US" sz="44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read.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457200" y="33375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Free, open-source, beautiful docs — generated from your code, verified against it, and yours to keep.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7200" y="429768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2976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463040" y="429768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/>
        </p:spPr>
      </p:sp>
      <p:sp>
        <p:nvSpPr>
          <p:cNvPr id="21" name="Text 18"/>
          <p:cNvSpPr/>
          <p:nvPr/>
        </p:nvSpPr>
        <p:spPr>
          <a:xfrm>
            <a:off x="1463040" y="42976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★  open source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Most docs are stale, ugly, and nobody trusts them.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5740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9202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They rot the moment code changes — and quietly stop matching reality.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9260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Generic AI doc writers churn out bland prose that's “almost right, but not quite.”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06908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9319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Good docs are expensive to maintain — so maintainers, who have no budget, go without.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06440" y="1828800"/>
            <a:ext cx="2880360" cy="274320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8100000">
              <a:srgbClr val="1E293B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89320" y="199339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say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89320" y="22494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createUser(name, email)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89320" y="28803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now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89320" y="3136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createUser(name, email, role)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9320" y="2761488"/>
            <a:ext cx="25146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41148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</a:t>
            </a:r>
            <a:pPr algn="l" indent="0" marL="0">
              <a:buNone/>
            </a:pPr>
            <a:r>
              <a:rPr lang="en-US" sz="950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fluent. confident. wrong.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WHY NOW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More code than ever — and the people writing it deserve docs that keep up.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4023360"/>
            <a:ext cx="4114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194560"/>
            <a:ext cx="0" cy="1828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840480"/>
            <a:ext cx="1399032" cy="-438912"/>
          </a:xfrm>
          <a:prstGeom prst="line">
            <a:avLst/>
          </a:prstGeom>
          <a:noFill/>
          <a:ln w="44450">
            <a:solidFill>
              <a:srgbClr val="0097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59152" y="3401568"/>
            <a:ext cx="1316736" cy="-585216"/>
          </a:xfrm>
          <a:prstGeom prst="line">
            <a:avLst/>
          </a:prstGeom>
          <a:noFill/>
          <a:ln w="44450">
            <a:solidFill>
              <a:srgbClr val="0097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75888" y="2816352"/>
            <a:ext cx="1399032" cy="-512064"/>
          </a:xfrm>
          <a:prstGeom prst="line">
            <a:avLst/>
          </a:prstGeom>
          <a:noFill/>
          <a:ln w="44450">
            <a:solidFill>
              <a:srgbClr val="0097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450592"/>
            <a:ext cx="1399032" cy="365760"/>
          </a:xfrm>
          <a:prstGeom prst="line">
            <a:avLst/>
          </a:prstGeom>
          <a:noFill/>
          <a:ln w="44450">
            <a:solidFill>
              <a:srgbClr val="D9770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359152" y="2816352"/>
            <a:ext cx="1316736" cy="512064"/>
          </a:xfrm>
          <a:prstGeom prst="line">
            <a:avLst/>
          </a:prstGeom>
          <a:noFill/>
          <a:ln w="44450">
            <a:solidFill>
              <a:srgbClr val="D9770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675888" y="3328416"/>
            <a:ext cx="1399032" cy="438912"/>
          </a:xfrm>
          <a:prstGeom prst="line">
            <a:avLst/>
          </a:prstGeom>
          <a:noFill/>
          <a:ln w="44450">
            <a:solidFill>
              <a:srgbClr val="D9770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935224" y="30266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32186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verification gap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46120" y="2157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AI-written code  ↑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46120" y="38221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trust in AI output  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" y="40965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schematic — illustrative trend, not plotted data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15000" y="1783080"/>
            <a:ext cx="2971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15000" y="1783080"/>
            <a:ext cx="82296" cy="129844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5" name="Text 23"/>
          <p:cNvSpPr/>
          <p:nvPr/>
        </p:nvSpPr>
        <p:spPr>
          <a:xfrm>
            <a:off x="5879592" y="1911096"/>
            <a:ext cx="26791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~230 repos/min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879592" y="2458273"/>
            <a:ext cx="2679192" cy="571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GitHub Octoverse 2025: 180M+ developers, ~1B commits (+25% YoY). AI writes &gt;30% of new code at Google (Q1 2025).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15000" y="3273552"/>
            <a:ext cx="2971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15000" y="3273552"/>
            <a:ext cx="82296" cy="12984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5879592" y="3401568"/>
            <a:ext cx="26791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30+ min/day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879592" y="3948745"/>
            <a:ext cx="2679192" cy="571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61–63% of developers lose 30+ min/day searching for answers — though docs are the #1 resource (84%). And trust in AI accuracy fell to ~29% (SO 2025).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Free, beautiful, verified, and yours.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5910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docstube generates a gorgeous Astro/MDX site from your code, checks it against the source, keeps it current on every commit — and runs on the AI you already have. MIT, every feature free.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0097A1"/>
          </a:solidFill>
          <a:ln w="12700">
            <a:solidFill>
              <a:srgbClr val="0097A1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11" name="Image 0" descr="/sessions/trusting-gifted-rubin/mnt/outputs/build/icons/FaCheck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688336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Verified, not hallucinated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CFE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Checked against the source — beautiful AND trustworthy.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670048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15" name="Image 1" descr="/sessions/trusting-gifted-rubin/mnt/outputs/build/icons/FaStar_0097A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16" y="268833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52928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Beautiful by default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852928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polished Astro/MDX site, not a template dump.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882896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19" name="Image 2" descr="/sessions/trusting-gifted-rubin/mnt/outputs/build/icons/FaSync_0097A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268833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65776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Always current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065776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GitHub Action opens a doc-update PR on every change.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095744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23" name="Image 3" descr="/sessions/trusting-gifted-rubin/mnt/outputs/build/icons/FaHeart_0097A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2" y="268833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78624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Free &amp; yours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278624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MIT-licensed, on the AI you already pay for.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Point it at your repo. Get docs you're proud of.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structural repo map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36115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165299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65299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16" name="Text 14"/>
          <p:cNvSpPr/>
          <p:nvPr/>
        </p:nvSpPr>
        <p:spPr>
          <a:xfrm>
            <a:off x="2238451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Write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20163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agent drafts from source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44214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873398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73398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1" name="Text 19"/>
          <p:cNvSpPr/>
          <p:nvPr/>
        </p:nvSpPr>
        <p:spPr>
          <a:xfrm>
            <a:off x="3946550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28262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per-persona agents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52314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581498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81498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6" name="Text 24"/>
          <p:cNvSpPr/>
          <p:nvPr/>
        </p:nvSpPr>
        <p:spPr>
          <a:xfrm>
            <a:off x="5654650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36362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deterministic gates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60413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289597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89597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31" name="Text 29"/>
          <p:cNvSpPr/>
          <p:nvPr/>
        </p:nvSpPr>
        <p:spPr>
          <a:xfrm>
            <a:off x="7362749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Ship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44461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beautiful owned site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2834640"/>
            <a:ext cx="4983480" cy="1481328"/>
          </a:xfrm>
          <a:prstGeom prst="roundRect">
            <a:avLst>
              <a:gd name="adj" fmla="val 4938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8100000">
              <a:srgbClr val="1E293B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" y="2962656"/>
            <a:ext cx="73152" cy="7315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5" name="Shape 33"/>
          <p:cNvSpPr/>
          <p:nvPr/>
        </p:nvSpPr>
        <p:spPr>
          <a:xfrm>
            <a:off x="749808" y="2962656"/>
            <a:ext cx="73152" cy="7315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6" name="Shape 34"/>
          <p:cNvSpPr/>
          <p:nvPr/>
        </p:nvSpPr>
        <p:spPr>
          <a:xfrm>
            <a:off x="896112" y="2962656"/>
            <a:ext cx="73152" cy="7315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7" name="Text 35"/>
          <p:cNvSpPr/>
          <p:nvPr/>
        </p:nvSpPr>
        <p:spPr>
          <a:xfrm>
            <a:off x="1097280" y="290779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docstube verify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8368" y="3163824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 compile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8368" y="3378708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imports resolve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8368" y="3593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 work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8368" y="3808476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refs match compiler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8368" y="4023360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</a:t>
            </a:r>
            <a:pPr algn="l" indent="0" marL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page flagged for human review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715000" y="2834640"/>
            <a:ext cx="2971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15000" y="2834640"/>
            <a:ext cx="82296" cy="14813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5934456" y="29992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REPORT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34456" y="3291840"/>
            <a:ext cx="2551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docs disagree with your code in </a:t>
            </a:r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</a:t>
            </a:r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places.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5934456" y="3822192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near-free byproduct of verification — and only affected pages regenerate.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WHY IT'S DIFFERENT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 + beautiful + free + yours — pick all four.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5910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For the community, this is the whole pitch.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0097A1"/>
          </a:solidFill>
          <a:ln w="12700">
            <a:solidFill>
              <a:srgbClr val="0097A1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32888"/>
            <a:ext cx="548640" cy="548640"/>
          </a:xfrm>
          <a:prstGeom prst="ellipse">
            <a:avLst/>
          </a:prstGeom>
          <a:solidFill>
            <a:srgbClr val="0B7C86"/>
          </a:solidFill>
          <a:ln/>
        </p:spPr>
      </p:sp>
      <p:pic>
        <p:nvPicPr>
          <p:cNvPr id="12" name="Image 0" descr="/sessions/trusting-gifted-rubin/mnt/outputs/build/icons/FaCheck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7004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319125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3575304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CFE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Mechanically checked against your source.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670048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52928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17" name="Image 1" descr="/sessions/trusting-gifted-rubin/mnt/outputs/build/icons/FaStar_0097A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267004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52928" y="319125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Beautiful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852928" y="3575304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site you'd actually want to show off.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882896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65776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22" name="Image 2" descr="/sessions/trusting-gifted-rubin/mnt/outputs/build/icons/FaHeart_0097A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267004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65776" y="319125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Free · MIT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065776" y="3575304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feature, free forever.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7095744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278624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27" name="Image 3" descr="/sessions/trusting-gifted-rubin/mnt/outputs/build/icons/FaBoxOpen_0097A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2670048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78624" y="319125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278624" y="3575304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Owned output — no lock-in, ever.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Together that's the only </a:t>
            </a:r>
            <a:pPr algn="l" indent="0" marL="0">
              <a:buNone/>
            </a:pPr>
            <a:r>
              <a:rPr lang="en-US" sz="900" b="1" i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 × verified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quadrant — see competition.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180M+ developers, ~230 new repos a minute — and we're free to adopt.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2743200" cy="2743200"/>
          </a:xfrm>
          <a:prstGeom prst="ellipse">
            <a:avLst/>
          </a:prstGeom>
          <a:solidFill>
            <a:srgbClr val="CDEDE6">
              <a:alpha val="70000"/>
            </a:srgbClr>
          </a:solidFill>
          <a:ln w="19050">
            <a:solidFill>
              <a:srgbClr val="0097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" y="2361347"/>
            <a:ext cx="1810512" cy="1810512"/>
          </a:xfrm>
          <a:prstGeom prst="ellipse">
            <a:avLst/>
          </a:prstGeom>
          <a:solidFill>
            <a:srgbClr val="0097A1">
              <a:alpha val="72000"/>
            </a:srgbClr>
          </a:solidFill>
          <a:ln w="19050">
            <a:solidFill>
              <a:srgbClr val="004B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9344" y="3292937"/>
            <a:ext cx="987552" cy="987552"/>
          </a:xfrm>
          <a:prstGeom prst="ellipse">
            <a:avLst/>
          </a:prstGeom>
          <a:solidFill>
            <a:srgbClr val="004B52"/>
          </a:solidFill>
          <a:ln/>
        </p:spPr>
      </p:sp>
      <p:sp>
        <p:nvSpPr>
          <p:cNvPr id="12" name="Text 10"/>
          <p:cNvSpPr/>
          <p:nvPr/>
        </p:nvSpPr>
        <p:spPr>
          <a:xfrm>
            <a:off x="1609344" y="3292937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9304" y="2471075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189280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783080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25112" y="18928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187452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code-tools market ~$9.35B (2026) → ~$30B (2031), ~26% CAGR.  (Mordor Intelligence — analyst estimate)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60520" y="2679192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25112" y="27889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2770632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180M+ developers; 395M public repos + tens of millions of private repos needing docs.  (GitHub Octoverse 2025)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60520" y="3575304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25112" y="368503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3666744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Bottom-up: adopted repos/sites × per-site pricing, or developers × a modest ACV.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4988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Soft/estimated figures flagged in speaker notes · docs-tools market shown as color only (low confidence).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Free forever for the community. Paid when your team grows up.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661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1661160" cy="73152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23744"/>
            <a:ext cx="1441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Open-source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798064"/>
            <a:ext cx="1441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forever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3054096"/>
            <a:ext cx="1441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feature. Bring your own AI. Community support. The adoption engine.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92680" y="1965960"/>
            <a:ext cx="1661160" cy="1783080"/>
          </a:xfrm>
          <a:prstGeom prst="roundRect">
            <a:avLst>
              <a:gd name="adj" fmla="val 4404"/>
            </a:avLst>
          </a:prstGeom>
          <a:solidFill>
            <a:srgbClr val="0097A1"/>
          </a:solidFill>
          <a:ln w="12700">
            <a:solidFill>
              <a:srgbClr val="0097A1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92680" y="1965960"/>
            <a:ext cx="1661160" cy="73152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16" name="Text 14"/>
          <p:cNvSpPr/>
          <p:nvPr/>
        </p:nvSpPr>
        <p:spPr>
          <a:xfrm>
            <a:off x="2502408" y="2112264"/>
            <a:ext cx="1441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Cloud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02408" y="2386584"/>
            <a:ext cx="1441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7F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Usage-based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02408" y="2642616"/>
            <a:ext cx="14417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ECFE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Cross-project RAG “Ask agent” + MCP, governance, audit log, analytics, guardrails.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28160" y="1554480"/>
            <a:ext cx="1661160" cy="219456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28160" y="1554480"/>
            <a:ext cx="1661160" cy="73152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1" name="Text 19"/>
          <p:cNvSpPr/>
          <p:nvPr/>
        </p:nvSpPr>
        <p:spPr>
          <a:xfrm>
            <a:off x="4437888" y="1700784"/>
            <a:ext cx="1441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37888" y="1975104"/>
            <a:ext cx="1441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· fixed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37888" y="2231136"/>
            <a:ext cx="14417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Self-host + SLA + onboarding + enterprise support. Internal-docs led.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858768"/>
            <a:ext cx="5532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95344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adoption  →  monetization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63640" y="1783080"/>
            <a:ext cx="2423160" cy="2697480"/>
          </a:xfrm>
          <a:prstGeom prst="roundRect">
            <a:avLst>
              <a:gd name="adj" fmla="val 3396"/>
            </a:avLst>
          </a:prstGeom>
          <a:solidFill>
            <a:srgbClr val="CDEDE6">
              <a:alpha val="65000"/>
            </a:srgbClr>
          </a:solidFill>
          <a:ln w="12700">
            <a:solidFill>
              <a:srgbClr val="0097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9385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004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PROVEN MOTION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46520" y="2212848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Supabase (~$5B val, ~$70M ARR) and PostHog (~$1.4B val, ~$57.5M ARR) prove free-self-host → paid-hosted/governance. Free isn't charity — it's the distribution. (Comps reported/estimated.)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Lovely hosted tools exist. None are free, verified, and yours.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1554480" y="2057400"/>
            <a:ext cx="21945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2057400"/>
            <a:ext cx="1097280" cy="1097280"/>
          </a:xfrm>
          <a:prstGeom prst="rect">
            <a:avLst/>
          </a:prstGeom>
          <a:solidFill>
            <a:srgbClr val="CDEDE6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3154680"/>
            <a:ext cx="2194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651760" y="2057400"/>
            <a:ext cx="0" cy="21945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554480" y="42702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Passive · hosts docs you write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51760" y="42702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 · generates from code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0352" y="2039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4050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Unverified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88182" y="2254910"/>
            <a:ext cx="219456" cy="219456"/>
          </a:xfrm>
          <a:prstGeom prst="ellipse">
            <a:avLst/>
          </a:prstGeom>
          <a:solidFill>
            <a:srgbClr val="0097A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29230" y="190743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docstube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845966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1426464" y="397398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Mintlify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45766" y="3538728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1980590" y="33192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GitBook · ReadMe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64992" y="3758184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4" name="Text 22"/>
          <p:cNvSpPr/>
          <p:nvPr/>
        </p:nvSpPr>
        <p:spPr>
          <a:xfrm>
            <a:off x="2916936" y="3886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DeepWiki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50746" y="2397557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1448410" y="2525573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Swimm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783080"/>
          <a:ext cx="37947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77240"/>
                <a:gridCol w="621792"/>
                <a:gridCol w="640080"/>
                <a:gridCol w="658368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docstube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Mintlify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GitBook / ReadMe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DeepWiki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Generates from code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Mechanically verified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Free / open-source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~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Owned output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Bring-your-own compute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4892040" y="42245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Stay generous — these are good, polished tools. Our difference is the open-source, owned, verified combination (DeepWiki is free to browse but not yours and not verified).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Community, craft, and neutrality — not a license — are the moat.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defense against idea-copying is speed, community, and brand.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12" name="Image 0" descr="/sessions/trusting-gifted-rubin/mnt/outputs/build/icons/FaHeart_0097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7004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Community &amp; craft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Beautiful, beloved, and hard to clone.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670048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52928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17" name="Image 1" descr="/sessions/trusting-gifted-rubin/mnt/outputs/build/icons/FaCheckCircle_0097A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267004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52928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Deterministic verification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2852928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Mechanical checks, not a score.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882896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9050">
            <a:solidFill>
              <a:srgbClr val="0097A1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882896" y="2331720"/>
            <a:ext cx="2029968" cy="73152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2" name="Shape 18"/>
          <p:cNvSpPr/>
          <p:nvPr/>
        </p:nvSpPr>
        <p:spPr>
          <a:xfrm>
            <a:off x="5065776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23" name="Image 2" descr="/sessions/trusting-gifted-rubin/mnt/outputs/build/icons/FaRandom_0097A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267004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65776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Provider-neutral BYO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065776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Open and neutral, no markup.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7095744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278624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28" name="Image 3" descr="/sessions/trusting-gifted-rubin/mnt/outputs/build/icons/FaLock_0097A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267004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78624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Source never uploaded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7278624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Runs on your machine.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457200" y="43342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i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hedge: </a:t>
            </a:r>
            <a:pPr algn="l" indent="0" marL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vendor's docs mode would be walled and on-its-tokens; ours is open, neutral, and owned. Beautiful + beloved + neutral is hard to copy.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 in the open — by and for developers.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0097A1"/>
            </a:solidFill>
            <a:prstDash val="dash"/>
          </a:ln>
        </p:spPr>
      </p:sp>
      <p:pic>
        <p:nvPicPr>
          <p:cNvPr id="10" name="Image 0" descr="/sessions/trusting-gifted-rubin/mnt/outputs/build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395728"/>
            <a:ext cx="822960" cy="822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273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 PLACEHOLDER: team — to be added ]]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36393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We're building in the open. Team and hiring details intentionally omitted here.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7A1"/>
          </a:solidFill>
          <a:ln/>
        </p:spPr>
      </p:sp>
      <p:pic>
        <p:nvPicPr>
          <p:cNvPr id="3" name="Image 0" descr="/sessions/trusting-gifted-rubin/mnt/outputs/build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5087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project deserves docs people actually want to read.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29718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Free, beautiful, verified, and owned — for the 180M+ developers building the next wave of software, on the AI they already have.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63640" y="2926080"/>
            <a:ext cx="2423160" cy="1600200"/>
          </a:xfrm>
          <a:prstGeom prst="roundRect">
            <a:avLst>
              <a:gd name="adj" fmla="val 5143"/>
            </a:avLst>
          </a:prstGeom>
          <a:solidFill>
            <a:srgbClr val="111A2E"/>
          </a:solidFill>
          <a:ln w="12700">
            <a:solidFill>
              <a:srgbClr val="5EEAD4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6409944" y="3054096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 OPTIONAL — only when raising ]]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409944" y="3346704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Raising  </a:t>
            </a:r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[[ $amount ]]</a:t>
            </a:r>
            <a:endParaRPr lang="en-US" sz="9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  </a:t>
            </a:r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E2E8F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[[ use of funds ]]</a:t>
            </a:r>
            <a:endParaRPr lang="en-US" sz="9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projections in this artifact.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free. beautiful. verified. yours.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docstube — DOCS YOU'D ACTUALLY READ</dc:title>
  <dc:subject>PptxGenJS Presentation</dc:subject>
  <dc:creator>docstube</dc:creator>
  <cp:lastModifiedBy>docstube</cp:lastModifiedBy>
  <cp:revision>1</cp:revision>
  <dcterms:created xsi:type="dcterms:W3CDTF">2026-06-18T09:01:05Z</dcterms:created>
  <dcterms:modified xsi:type="dcterms:W3CDTF">2026-06-18T09:01:05Z</dcterms:modified>
</cp:coreProperties>
</file>