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 positioning. We are not 'AI that writes docs' — we're the verification layer. Open confident and precise. No traction shown; this is a vision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failure mode precisely: the danger isn't obviously-broken docs, it's plausibly-wrong docs that read fine. That is exactly what verification targets.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Strongest, best-sourced slide — let it land. SO 2025 is the backbone (solid). Microsoft/Google figures are exec statements; Kevin Scott's ~95%-by-2030 is a prediction. The bottleneck moved from writing code to trusting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shift in one sentence. 'Verified' is the spearhead — unclaimed by funded competitors. Avoid 'zero hallucinations'; we say 'flagged, never silently wrong.'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deterministic gate carries the trust load — mechanical checks, not a model score. API refs are extracted from the compiler, never written by an LLM. The drift report is a near-free byproduct and a great launch stunt.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piece exists somewhere in isolation; the combination doesn't. The two least-copyable pillars are the deterministic verifier and symbol-level provenance.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on the code-tools market and GitHub population, not the shaky docs-tools number (~$8B by 2025 — low confidence, color only). Bottom-up beats top-down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Audit logs are a gap at GitBook/ReadMe — a legitimate paid hook. Suggested mechanic: banded per-site base + seat/usage hybrid, not pure per-page.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Mintlify: $45M Series B at ~$500M val (Apr 2026). DeepWiki: reads code → explains it, hosted/browse-only, your code goes to their servers. ~ = partial/gap.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hardest parts to copy are the deterministic verifier and symbol-level provenance. Neutrality is the hedge.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 close. Optional ask only when actually raising — placeholders until then.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97A1"/>
          </a:solidFill>
          <a:ln/>
        </p:spPr>
      </p:sp>
      <p:pic>
        <p:nvPicPr>
          <p:cNvPr id="3" name="Image 0" descr="/sessions/trusting-gifted-rubin/mnt/outputs/build/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868680" cy="86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99032" y="484632"/>
            <a:ext cx="36576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-50" kern="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3400" b="1" spc="-50" kern="0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7360920" y="56692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6" name="Text 3"/>
          <p:cNvSpPr/>
          <p:nvPr/>
        </p:nvSpPr>
        <p:spPr>
          <a:xfrm>
            <a:off x="7360920" y="56692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A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build: passing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 that compile.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457200" y="2743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Documentation generated from your code — and </a:t>
            </a:r>
            <a:pPr algn="l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04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mechanically proven against it.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3611880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0B1220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6118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docstube build</a:t>
            </a:r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  </a:t>
            </a:r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verified  ·  ⚠ 1 flagged  ·  0 silently wrong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2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 rot the moment they're written. AI made it worse.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057400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192024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commit pushes the docs further out of date — the gap only grows.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063240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92608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Generic AI doc writers produce fluent prose untethered from the code.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069080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93192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failure mode developers already cite about AI: “almost right, but not quite.”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06440" y="1828800"/>
            <a:ext cx="2880360" cy="2743200"/>
          </a:xfrm>
          <a:prstGeom prst="roundRect">
            <a:avLst>
              <a:gd name="adj" fmla="val 3333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27000" dist="38100" dir="8100000">
              <a:srgbClr val="1E293B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89320" y="199339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 say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989320" y="224942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createUser(name, email)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89320" y="28803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now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989320" y="31363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createUser(name, email, role)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89320" y="2761488"/>
            <a:ext cx="25146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41148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</a:t>
            </a:r>
            <a:pPr algn="l" indent="0" marL="0">
              <a:buNone/>
            </a:pPr>
            <a:r>
              <a:rPr lang="en-US" sz="950" i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fluent. confident. wrong.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097A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NOW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Code volume is exploding. Trust is collapsing. The gap is verification.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502920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4023360"/>
            <a:ext cx="4114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194560"/>
            <a:ext cx="0" cy="18288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3840480"/>
            <a:ext cx="1399032" cy="-438912"/>
          </a:xfrm>
          <a:prstGeom prst="line">
            <a:avLst/>
          </a:prstGeom>
          <a:noFill/>
          <a:ln w="44450">
            <a:solidFill>
              <a:srgbClr val="0097A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59152" y="3401568"/>
            <a:ext cx="1316736" cy="-585216"/>
          </a:xfrm>
          <a:prstGeom prst="line">
            <a:avLst/>
          </a:prstGeom>
          <a:noFill/>
          <a:ln w="44450">
            <a:solidFill>
              <a:srgbClr val="0097A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75888" y="2816352"/>
            <a:ext cx="1399032" cy="-512064"/>
          </a:xfrm>
          <a:prstGeom prst="line">
            <a:avLst/>
          </a:prstGeom>
          <a:noFill/>
          <a:ln w="44450">
            <a:solidFill>
              <a:srgbClr val="0097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2450592"/>
            <a:ext cx="1399032" cy="365760"/>
          </a:xfrm>
          <a:prstGeom prst="line">
            <a:avLst/>
          </a:prstGeom>
          <a:noFill/>
          <a:ln w="44450">
            <a:solidFill>
              <a:srgbClr val="D9770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359152" y="2816352"/>
            <a:ext cx="1316736" cy="512064"/>
          </a:xfrm>
          <a:prstGeom prst="line">
            <a:avLst/>
          </a:prstGeom>
          <a:noFill/>
          <a:ln w="44450">
            <a:solidFill>
              <a:srgbClr val="D9770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675888" y="3328416"/>
            <a:ext cx="1399032" cy="438912"/>
          </a:xfrm>
          <a:prstGeom prst="line">
            <a:avLst/>
          </a:prstGeom>
          <a:noFill/>
          <a:ln w="44450">
            <a:solidFill>
              <a:srgbClr val="D97706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935224" y="302666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32186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verification gap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46120" y="21579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AI-written code  ↑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46120" y="38221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trust in AI output  ↓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60120" y="40965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schematic — illustrative trend, not plotted data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715000" y="1783080"/>
            <a:ext cx="297180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715000" y="1783080"/>
            <a:ext cx="82296" cy="1298448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25" name="Text 23"/>
          <p:cNvSpPr/>
          <p:nvPr/>
        </p:nvSpPr>
        <p:spPr>
          <a:xfrm>
            <a:off x="5879592" y="1911096"/>
            <a:ext cx="267919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&gt;30% of new code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5879592" y="2458273"/>
            <a:ext cx="2679192" cy="571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is AI-written at Google (Pichai, Q1 2025); ~20–30% at Microsoft (Nadella, Apr 2025). ~1B commits in 2025, +25% YoY (GitHub Octoverse 2025).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715000" y="3273552"/>
            <a:ext cx="297180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715000" y="3273552"/>
            <a:ext cx="82296" cy="12984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5879592" y="3401568"/>
            <a:ext cx="267919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~29% trust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5879592" y="3948745"/>
            <a:ext cx="2679192" cy="571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 AI accuracy — down 11 pts; 46% distrust vs. 33% trust; 66% frustrated by “almost right, but not quite.” (Stack Overflow 2025)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097A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6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Not AI that writes your docs. Docs mechanically checked against your code.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59105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 open-source CLI reads your codebase and generates verified, always-current, audience-targeted docs — on your own AI, to a site you own.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2029968" cy="1783080"/>
          </a:xfrm>
          <a:prstGeom prst="roundRect">
            <a:avLst>
              <a:gd name="adj" fmla="val 4615"/>
            </a:avLst>
          </a:prstGeom>
          <a:solidFill>
            <a:srgbClr val="0097A1"/>
          </a:solidFill>
          <a:ln w="12700">
            <a:solidFill>
              <a:srgbClr val="0097A1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pic>
        <p:nvPicPr>
          <p:cNvPr id="11" name="Image 0" descr="/sessions/trusting-gifted-rubin/mnt/outputs/build/icons/FaCheckCirc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688336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3182112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Verified, not hallucinated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0080" y="3529584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ECFE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Deterministic gates check the output against the source.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670048" y="2468880"/>
            <a:ext cx="202996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pic>
        <p:nvPicPr>
          <p:cNvPr id="15" name="Image 1" descr="/sessions/trusting-gifted-rubin/mnt/outputs/build/icons/FaSync_0097A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216" y="2688336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852928" y="3182112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Always current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2852928" y="3529584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 code change, only affected pages regenerate.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882896" y="2468880"/>
            <a:ext cx="202996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pic>
        <p:nvPicPr>
          <p:cNvPr id="19" name="Image 2" descr="/sessions/trusting-gifted-rubin/mnt/outputs/build/icons/FaUsers_0097A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4" y="2688336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65776" y="3182112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Written for your readers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065776" y="3529584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Per-persona reviewers check fit and correctness.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7095744" y="2468880"/>
            <a:ext cx="202996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pic>
        <p:nvPicPr>
          <p:cNvPr id="23" name="Image 3" descr="/sessions/trusting-gifted-rubin/mnt/outputs/build/icons/FaKey_0097A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912" y="2688336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78624" y="3182112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Bring your own AI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7278624" y="3529584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key, any model, no token markup, source stays local.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097A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Write → review → verify → ship. Nothing ships silently wrong.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1397203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691640"/>
            <a:ext cx="1397203" cy="64008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1837944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" y="2148840"/>
            <a:ext cx="12874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structural repo map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836115" y="169164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165299" y="1691640"/>
            <a:ext cx="1397203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65299" y="1691640"/>
            <a:ext cx="1397203" cy="64008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16" name="Text 14"/>
          <p:cNvSpPr/>
          <p:nvPr/>
        </p:nvSpPr>
        <p:spPr>
          <a:xfrm>
            <a:off x="2238451" y="1837944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Write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20163" y="2148840"/>
            <a:ext cx="12874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agent drafts from source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544214" y="169164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873398" y="1691640"/>
            <a:ext cx="1397203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73398" y="1691640"/>
            <a:ext cx="1397203" cy="64008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21" name="Text 19"/>
          <p:cNvSpPr/>
          <p:nvPr/>
        </p:nvSpPr>
        <p:spPr>
          <a:xfrm>
            <a:off x="3946550" y="1837944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Review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28262" y="2148840"/>
            <a:ext cx="12874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per-persona agents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52314" y="169164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›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581498" y="1691640"/>
            <a:ext cx="1397203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81498" y="1691640"/>
            <a:ext cx="1397203" cy="64008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26" name="Text 24"/>
          <p:cNvSpPr/>
          <p:nvPr/>
        </p:nvSpPr>
        <p:spPr>
          <a:xfrm>
            <a:off x="5654650" y="1837944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Verify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36362" y="2148840"/>
            <a:ext cx="12874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deterministic gates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960413" y="169164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289597" y="1691640"/>
            <a:ext cx="1397203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89597" y="1691640"/>
            <a:ext cx="1397203" cy="64008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31" name="Text 29"/>
          <p:cNvSpPr/>
          <p:nvPr/>
        </p:nvSpPr>
        <p:spPr>
          <a:xfrm>
            <a:off x="7362749" y="1837944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Ship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44461" y="2148840"/>
            <a:ext cx="12874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owned site · or flag ⚠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2834640"/>
            <a:ext cx="4983480" cy="1481328"/>
          </a:xfrm>
          <a:prstGeom prst="roundRect">
            <a:avLst>
              <a:gd name="adj" fmla="val 4938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27000" dist="38100" dir="8100000">
              <a:srgbClr val="1E293B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3504" y="2962656"/>
            <a:ext cx="73152" cy="7315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5" name="Shape 33"/>
          <p:cNvSpPr/>
          <p:nvPr/>
        </p:nvSpPr>
        <p:spPr>
          <a:xfrm>
            <a:off x="749808" y="2962656"/>
            <a:ext cx="73152" cy="7315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6" name="Shape 34"/>
          <p:cNvSpPr/>
          <p:nvPr/>
        </p:nvSpPr>
        <p:spPr>
          <a:xfrm>
            <a:off x="896112" y="2962656"/>
            <a:ext cx="73152" cy="7315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7" name="Text 35"/>
          <p:cNvSpPr/>
          <p:nvPr/>
        </p:nvSpPr>
        <p:spPr>
          <a:xfrm>
            <a:off x="1097280" y="2907792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docstube verify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58368" y="3163824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samples compile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58368" y="3378708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imports resolve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58368" y="3593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links work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58368" y="3808476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refs match compiler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58368" y="4023360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</a:t>
            </a:r>
            <a:pPr algn="l" indent="0" marL="0"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page flagged for human review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715000" y="2834640"/>
            <a:ext cx="29718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715000" y="2834640"/>
            <a:ext cx="82296" cy="14813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5" name="Text 43"/>
          <p:cNvSpPr/>
          <p:nvPr/>
        </p:nvSpPr>
        <p:spPr>
          <a:xfrm>
            <a:off x="5934456" y="299923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DRIFT REPORT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934456" y="3291840"/>
            <a:ext cx="2551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docs disagree with your code in </a:t>
            </a:r>
            <a:pPr algn="l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</a:t>
            </a:r>
            <a:pPr algn="l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places.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5934456" y="3822192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near-free byproduct of verification — and only affected pages regenerate.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097A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IT'S DIFFERENT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6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wedge: verification + ownership + bring-your-own-compute.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554480" y="2148840"/>
            <a:ext cx="233172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20340" y="2148840"/>
            <a:ext cx="1165860" cy="1165860"/>
          </a:xfrm>
          <a:prstGeom prst="rect">
            <a:avLst/>
          </a:prstGeom>
          <a:solidFill>
            <a:srgbClr val="CDEDE6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554480" y="3314700"/>
            <a:ext cx="2331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720340" y="2148840"/>
            <a:ext cx="0" cy="233172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554480" y="4498848"/>
            <a:ext cx="11658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Passive · hosts docs you write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720340" y="4498848"/>
            <a:ext cx="11658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Active · generates from code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0352" y="21305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4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Verified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0352" y="42793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Unverified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03397" y="2365553"/>
            <a:ext cx="219456" cy="219456"/>
          </a:xfrm>
          <a:prstGeom prst="ellipse">
            <a:avLst/>
          </a:prstGeom>
          <a:solidFill>
            <a:srgbClr val="0097A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44445" y="2018081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docstube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72691" y="4005986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1470355" y="413400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Mintlify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481578" y="3959352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2" name="Text 20"/>
          <p:cNvSpPr/>
          <p:nvPr/>
        </p:nvSpPr>
        <p:spPr>
          <a:xfrm>
            <a:off x="3033522" y="408736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DeepWiki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872691" y="2513686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4" name="Text 22"/>
          <p:cNvSpPr/>
          <p:nvPr/>
        </p:nvSpPr>
        <p:spPr>
          <a:xfrm>
            <a:off x="1470355" y="264170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Swimm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074920" y="1874520"/>
            <a:ext cx="3611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74920" y="1874520"/>
            <a:ext cx="73152" cy="786384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27" name="Text 25"/>
          <p:cNvSpPr/>
          <p:nvPr/>
        </p:nvSpPr>
        <p:spPr>
          <a:xfrm>
            <a:off x="5276088" y="19842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Verified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76088" y="22585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Mechanically checked against the source — not a confidence score.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74920" y="2807208"/>
            <a:ext cx="3611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74920" y="2807208"/>
            <a:ext cx="73152" cy="786384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31" name="Text 29"/>
          <p:cNvSpPr/>
          <p:nvPr/>
        </p:nvSpPr>
        <p:spPr>
          <a:xfrm>
            <a:off x="5276088" y="29169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Owned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76088" y="319125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self-contained Astro/MDX site. No platform lock-in.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74920" y="3739896"/>
            <a:ext cx="3611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074920" y="3739896"/>
            <a:ext cx="73152" cy="786384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35" name="Text 33"/>
          <p:cNvSpPr/>
          <p:nvPr/>
        </p:nvSpPr>
        <p:spPr>
          <a:xfrm>
            <a:off x="5276088" y="38496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Bring-your-own AI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76088" y="412394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Any model, no token markup, your code never uploaded.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097A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We ride the AI-code-tools market — anchored on developers and repos.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31520" y="1783080"/>
            <a:ext cx="2743200" cy="2743200"/>
          </a:xfrm>
          <a:prstGeom prst="ellipse">
            <a:avLst/>
          </a:prstGeom>
          <a:solidFill>
            <a:srgbClr val="CDEDE6">
              <a:alpha val="70000"/>
            </a:srgbClr>
          </a:solidFill>
          <a:ln w="19050">
            <a:solidFill>
              <a:srgbClr val="0097A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" y="2361347"/>
            <a:ext cx="1810512" cy="1810512"/>
          </a:xfrm>
          <a:prstGeom prst="ellipse">
            <a:avLst/>
          </a:prstGeom>
          <a:solidFill>
            <a:srgbClr val="0097A1">
              <a:alpha val="72000"/>
            </a:srgbClr>
          </a:solidFill>
          <a:ln w="19050">
            <a:solidFill>
              <a:srgbClr val="004B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9344" y="3292937"/>
            <a:ext cx="987552" cy="987552"/>
          </a:xfrm>
          <a:prstGeom prst="ellipse">
            <a:avLst/>
          </a:prstGeom>
          <a:solidFill>
            <a:srgbClr val="004B52"/>
          </a:solidFill>
          <a:ln/>
        </p:spPr>
      </p:sp>
      <p:sp>
        <p:nvSpPr>
          <p:cNvPr id="12" name="Text 10"/>
          <p:cNvSpPr/>
          <p:nvPr/>
        </p:nvSpPr>
        <p:spPr>
          <a:xfrm>
            <a:off x="1609344" y="3292937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9304" y="2471075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189280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1783080"/>
            <a:ext cx="45262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25112" y="189280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0" y="1874520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 code-tools market ~$9.35B (2026) → ~$30B (2031), ~26% CAGR.  (Mordor Intelligence — analyst estimate)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60520" y="2679192"/>
            <a:ext cx="45262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25112" y="27889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0" y="2770632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180M+ developers; 395M public repos + tens of millions of private repos needing docs.  (GitHub Octoverse 2025)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60520" y="3575304"/>
            <a:ext cx="45262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25112" y="368503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0" y="3666744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Bottom-up: adopted repos/sites × per-site pricing, or developers × a modest ACV.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4988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Soft/estimated figures flagged in speaker notes · docs-tools market shown as color only (low confidence).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097A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Open-core: free CLI for adoption, paid for what one repo can't do.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1661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77440"/>
            <a:ext cx="1661160" cy="73152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23744"/>
            <a:ext cx="1441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Open-source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2798064"/>
            <a:ext cx="1441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forever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3054096"/>
            <a:ext cx="14417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feature. Bring your own AI. Community support. The adoption engine.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92680" y="1965960"/>
            <a:ext cx="1661160" cy="1783080"/>
          </a:xfrm>
          <a:prstGeom prst="roundRect">
            <a:avLst>
              <a:gd name="adj" fmla="val 4404"/>
            </a:avLst>
          </a:prstGeom>
          <a:solidFill>
            <a:srgbClr val="0097A1"/>
          </a:solidFill>
          <a:ln w="12700">
            <a:solidFill>
              <a:srgbClr val="0097A1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392680" y="1965960"/>
            <a:ext cx="1661160" cy="73152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16" name="Text 14"/>
          <p:cNvSpPr/>
          <p:nvPr/>
        </p:nvSpPr>
        <p:spPr>
          <a:xfrm>
            <a:off x="2502408" y="2112264"/>
            <a:ext cx="1441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Cloud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02408" y="2386584"/>
            <a:ext cx="1441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7F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Usage-based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502408" y="2642616"/>
            <a:ext cx="144170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ECFE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Cross-project RAG “Ask agent” + MCP, governance, audit log, analytics, guardrails.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28160" y="1554480"/>
            <a:ext cx="1661160" cy="219456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28160" y="1554480"/>
            <a:ext cx="1661160" cy="73152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21" name="Text 19"/>
          <p:cNvSpPr/>
          <p:nvPr/>
        </p:nvSpPr>
        <p:spPr>
          <a:xfrm>
            <a:off x="4437888" y="1700784"/>
            <a:ext cx="1441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37888" y="1975104"/>
            <a:ext cx="1441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· fixed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437888" y="2231136"/>
            <a:ext cx="144170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Self-host + SLA + onboarding + enterprise support. Internal-docs led.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858768"/>
            <a:ext cx="5532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895344"/>
            <a:ext cx="5532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adoption  →  monetization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63640" y="1783080"/>
            <a:ext cx="2423160" cy="2697480"/>
          </a:xfrm>
          <a:prstGeom prst="roundRect">
            <a:avLst>
              <a:gd name="adj" fmla="val 3396"/>
            </a:avLst>
          </a:prstGeom>
          <a:solidFill>
            <a:srgbClr val="CDEDE6">
              <a:alpha val="65000"/>
            </a:srgbClr>
          </a:solidFill>
          <a:ln w="12700">
            <a:solidFill>
              <a:srgbClr val="0097A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193852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004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PROVEN MOTION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46520" y="2212848"/>
            <a:ext cx="2057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Mirrors Supabase (~$5B val, ~$70M ARR) and PostHog (~$1.4B val, ~$57.5M ARR): free self-host drives adoption; teams pay for not running infra, cross-project intelligence, and governance. (Comps reported/estimated.)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097A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Everyone hosts docs or generates prose. Nobody verifies.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1554480" y="2057400"/>
            <a:ext cx="219456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2057400"/>
            <a:ext cx="1097280" cy="1097280"/>
          </a:xfrm>
          <a:prstGeom prst="rect">
            <a:avLst/>
          </a:prstGeom>
          <a:solidFill>
            <a:srgbClr val="CDEDE6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554480" y="3154680"/>
            <a:ext cx="2194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651760" y="2057400"/>
            <a:ext cx="0" cy="219456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554480" y="42702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Passive · hosts docs you write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51760" y="42702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Active · generates from code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0352" y="20391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4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Verified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0352" y="40507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Unverified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88182" y="2254910"/>
            <a:ext cx="219456" cy="219456"/>
          </a:xfrm>
          <a:prstGeom prst="ellipse">
            <a:avLst/>
          </a:prstGeom>
          <a:solidFill>
            <a:srgbClr val="0097A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29230" y="190743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docstube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3845966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1426464" y="397398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Mintlify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45766" y="3538728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2" name="Text 20"/>
          <p:cNvSpPr/>
          <p:nvPr/>
        </p:nvSpPr>
        <p:spPr>
          <a:xfrm>
            <a:off x="1980590" y="33192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GitBook · ReadMe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64992" y="3758184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4" name="Text 22"/>
          <p:cNvSpPr/>
          <p:nvPr/>
        </p:nvSpPr>
        <p:spPr>
          <a:xfrm>
            <a:off x="2916936" y="38862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DeepWiki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50746" y="2397557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6" name="Text 24"/>
          <p:cNvSpPr/>
          <p:nvPr/>
        </p:nvSpPr>
        <p:spPr>
          <a:xfrm>
            <a:off x="1448410" y="2525573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Swimm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783080"/>
          <a:ext cx="37947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77240"/>
                <a:gridCol w="621792"/>
                <a:gridCol w="640080"/>
                <a:gridCol w="658368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docstube</a:t>
                      </a:r>
                      <a:endParaRPr lang="en-US" sz="8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4155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Mintlify</a:t>
                      </a:r>
                      <a:endParaRPr lang="en-US" sz="8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4155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GitBook / ReadMe</a:t>
                      </a:r>
                      <a:endParaRPr lang="en-US" sz="8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4155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DeepWiki</a:t>
                      </a:r>
                      <a:endParaRPr lang="en-US" sz="8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Generates from code</a:t>
                      </a:r>
                      <a:endParaRPr lang="en-US" sz="9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A06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✓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A06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✓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Mechanically verified</a:t>
                      </a:r>
                      <a:endParaRPr lang="en-US" sz="9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A06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✓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Owned output (no lock-in)</a:t>
                      </a:r>
                      <a:endParaRPr lang="en-US" sz="9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A06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✓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Bring-your-own compute</a:t>
                      </a:r>
                      <a:endParaRPr lang="en-US" sz="9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A06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✓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Audit log</a:t>
                      </a:r>
                      <a:endParaRPr lang="en-US" sz="9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~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~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4892040" y="422452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Conceding builds credibility: Mintlify leads on capital + distribution (≈$500M val, 20,000+ companies) and ships Autopilot incremental updates; DeepWiki is free, MCP-native, $26B-backed. Factual and fair — no trash-talking.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097A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MOAT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Why this isn't a weekend feature for a model vendor.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Answer the vendor question head-on — the structure of docstube is what's hard to copy.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202996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532888"/>
            <a:ext cx="548640" cy="548640"/>
          </a:xfrm>
          <a:prstGeom prst="ellipse">
            <a:avLst/>
          </a:prstGeom>
          <a:solidFill>
            <a:srgbClr val="CDEDE6"/>
          </a:solidFill>
          <a:ln/>
        </p:spPr>
      </p:sp>
      <p:pic>
        <p:nvPicPr>
          <p:cNvPr id="12" name="Image 0" descr="/sessions/trusting-gifted-rubin/mnt/outputs/build/icons/FaCheckCircle_0097A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70048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317296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Deterministic verification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40080" y="352044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Mechanical checks, not a model score.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670048" y="2331720"/>
            <a:ext cx="202996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852928" y="2532888"/>
            <a:ext cx="548640" cy="548640"/>
          </a:xfrm>
          <a:prstGeom prst="ellipse">
            <a:avLst/>
          </a:prstGeom>
          <a:solidFill>
            <a:srgbClr val="CDEDE6"/>
          </a:solidFill>
          <a:ln/>
        </p:spPr>
      </p:sp>
      <p:pic>
        <p:nvPicPr>
          <p:cNvPr id="17" name="Image 1" descr="/sessions/trusting-gifted-rubin/mnt/outputs/build/icons/FaBoxOpen_0097A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088" y="2670048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852928" y="317296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Self-owned output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2852928" y="352044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site, no lock-in to copy you into.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4882896" y="2331720"/>
            <a:ext cx="202996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9050">
            <a:solidFill>
              <a:srgbClr val="0097A1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882896" y="2331720"/>
            <a:ext cx="2029968" cy="73152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22" name="Shape 18"/>
          <p:cNvSpPr/>
          <p:nvPr/>
        </p:nvSpPr>
        <p:spPr>
          <a:xfrm>
            <a:off x="5065776" y="2532888"/>
            <a:ext cx="548640" cy="548640"/>
          </a:xfrm>
          <a:prstGeom prst="ellipse">
            <a:avLst/>
          </a:prstGeom>
          <a:solidFill>
            <a:srgbClr val="CDEDE6"/>
          </a:solidFill>
          <a:ln/>
        </p:spPr>
      </p:sp>
      <p:pic>
        <p:nvPicPr>
          <p:cNvPr id="23" name="Image 2" descr="/sessions/trusting-gifted-rubin/mnt/outputs/build/icons/FaRandom_0097A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936" y="2670048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065776" y="317296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Provider-neutral BYO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5065776" y="352044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Claude / Codex / Gemini, no token markup.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7095744" y="2331720"/>
            <a:ext cx="202996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278624" y="2532888"/>
            <a:ext cx="548640" cy="548640"/>
          </a:xfrm>
          <a:prstGeom prst="ellipse">
            <a:avLst/>
          </a:prstGeom>
          <a:solidFill>
            <a:srgbClr val="CDEDE6"/>
          </a:solidFill>
          <a:ln/>
        </p:spPr>
      </p:sp>
      <p:pic>
        <p:nvPicPr>
          <p:cNvPr id="28" name="Image 3" descr="/sessions/trusting-gifted-rubin/mnt/outputs/build/icons/FaLock_0097A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784" y="2670048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278624" y="317296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Source never uploaded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7278624" y="352044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code never reaches a vendor.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457200" y="43342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b="1" i="1" dirty="0">
                <a:solidFill>
                  <a:srgbClr val="004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hedge: </a:t>
            </a:r>
            <a:pPr algn="l" indent="0" marL="0">
              <a:lnSpc>
                <a:spcPts val="1150"/>
              </a:lnSpc>
              <a:buNone/>
            </a:pPr>
            <a:r>
              <a:rPr lang="en-US" sz="950" i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model vendor's incentive is to route you to its tokens; ours is to be neutral and never receive your code — which a vendor can't copy without undercutting itself.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097A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6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Building the verification layer — in the open.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8229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0097A1"/>
            </a:solidFill>
            <a:prstDash val="dash"/>
          </a:ln>
        </p:spPr>
      </p:sp>
      <p:pic>
        <p:nvPicPr>
          <p:cNvPr id="10" name="Image 0" descr="/sessions/trusting-gifted-rubin/mnt/outputs/build/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2395728"/>
            <a:ext cx="822960" cy="8229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3273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 PLACEHOLDER: team — to be added ]]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36393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Team and hiring details intentionally omitted in this vision artifact.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97A1"/>
          </a:solidFill>
          <a:ln/>
        </p:spPr>
      </p:sp>
      <p:pic>
        <p:nvPicPr>
          <p:cNvPr id="3" name="Image 0" descr="/sessions/trusting-gifted-rubin/mnt/outputs/build/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15087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Verified docs are the infrastructure of the AI-software era.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29718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When humans write less of the code and trust the output less, the scarce thing is verified explanation. docstube is that layer — on the AI you already pay for, on a site you own.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263640" y="2926080"/>
            <a:ext cx="2423160" cy="1600200"/>
          </a:xfrm>
          <a:prstGeom prst="roundRect">
            <a:avLst>
              <a:gd name="adj" fmla="val 5143"/>
            </a:avLst>
          </a:prstGeom>
          <a:solidFill>
            <a:srgbClr val="111A2E"/>
          </a:solidFill>
          <a:ln w="12700">
            <a:solidFill>
              <a:srgbClr val="5EEAD4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6409944" y="3054096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 OPTIONAL — only when raising ]]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409944" y="3346704"/>
            <a:ext cx="2130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Raising  </a:t>
            </a:r>
            <a:pPr algn="l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[[ $amount ]]</a:t>
            </a:r>
            <a:endParaRPr lang="en-US" sz="9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  </a:t>
            </a:r>
            <a:pPr algn="l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E2E8F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[[ use of funds ]]</a:t>
            </a:r>
            <a:endParaRPr lang="en-US" sz="9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 projections in this artifact.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572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it can't be checked, it doesn't ship silently.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docstube — DOCS THAT COMPILE</dc:title>
  <dc:subject>PptxGenJS Presentation</dc:subject>
  <dc:creator>docstube</dc:creator>
  <cp:lastModifiedBy>docstube</cp:lastModifiedBy>
  <cp:revision>1</cp:revision>
  <dcterms:created xsi:type="dcterms:W3CDTF">2026-06-18T09:01:05Z</dcterms:created>
  <dcterms:modified xsi:type="dcterms:W3CDTF">2026-06-18T09:01:05Z</dcterms:modified>
</cp:coreProperties>
</file>